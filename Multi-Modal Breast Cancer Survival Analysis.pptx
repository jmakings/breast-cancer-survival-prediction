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Figtree Black"/>
      <p:bold r:id="rId21"/>
      <p:boldItalic r:id="rId22"/>
    </p:embeddedFont>
    <p:embeddedFont>
      <p:font typeface="Hanken Grotesk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FigtreeBlack-boldItalic.fntdata"/><Relationship Id="rId21" Type="http://schemas.openxmlformats.org/officeDocument/2006/relationships/font" Target="fonts/FigtreeBlack-bold.fntdata"/><Relationship Id="rId24" Type="http://schemas.openxmlformats.org/officeDocument/2006/relationships/font" Target="fonts/HankenGrotesk-bold.fntdata"/><Relationship Id="rId23" Type="http://schemas.openxmlformats.org/officeDocument/2006/relationships/font" Target="fonts/Hanken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-boldItalic.fntdata"/><Relationship Id="rId25" Type="http://schemas.openxmlformats.org/officeDocument/2006/relationships/font" Target="fonts/HankenGrotesk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cfa59b3b93_1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cfa59b3b93_1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0415d31c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0415d31c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d0415d31c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d0415d31c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0415d31c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0415d31c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0415d31c0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d0415d31c0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fc1193c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fc1193c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fc1193c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fc1193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0415d31c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d0415d31c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fc1193c7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fc1193c7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dfc1193c7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dfc1193c7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dfc1193c7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dfc1193c7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dfc1193c7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dfc1193c7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fc1193c7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dfc1193c7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fc1193c7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dfc1193c7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" name="Google Shape;85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" name="Google Shape;119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" name="Google Shape;135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" name="Google Shape;217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7" name="Google Shape;237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31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285" name="Google Shape;285;p3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6" name="Google Shape;286;p31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31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8" name="Google Shape;288;p31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9" name="Google Shape;289;p31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2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293" name="Google Shape;293;p32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4" name="Google Shape;294;p32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32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6" name="Google Shape;296;p32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7" name="Google Shape;297;p32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8" name="Google Shape;298;p32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33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302" name="Google Shape;302;p3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3" name="Google Shape;303;p3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33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5" name="Google Shape;30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6" name="Google Shape;306;p33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34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10" name="Google Shape;310;p3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1" name="Google Shape;311;p34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34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3" name="Google Shape;31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4" name="Google Shape;314;p34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15" name="Google Shape;315;p34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316" name="Google Shape;316;p34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0" name="Google Shape;320;p35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321" name="Google Shape;321;p35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322" name="Google Shape;322;p35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3" name="Google Shape;323;p35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4" name="Google Shape;324;p35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25" name="Google Shape;325;p3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36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330" name="Google Shape;330;p3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1" name="Google Shape;331;p36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36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3" name="Google Shape;333;p36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7" name="Google Shape;337;p37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338" name="Google Shape;338;p3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339" name="Google Shape;339;p37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37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1" name="Google Shape;341;p37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38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345" name="Google Shape;345;p3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6" name="Google Shape;346;p38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38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8" name="Google Shape;348;p38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" name="Google Shape;349;p38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39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40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356" name="Google Shape;356;p40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7" name="Google Shape;357;p40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40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9" name="Google Shape;359;p40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60" name="Google Shape;360;p40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4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365" name="Google Shape;365;p4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6" name="Google Shape;366;p4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4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8" name="Google Shape;368;p42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9" name="Google Shape;369;p42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42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2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2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2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4" name="Google Shape;374;p42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5" name="Google Shape;375;p42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6" name="Google Shape;376;p42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7" name="Google Shape;377;p42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42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2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0" name="Google Shape;380;p42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3" name="Google Shape;383;p42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4" name="Google Shape;384;p42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5" name="Google Shape;385;p42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43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390" name="Google Shape;390;p43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1" name="Google Shape;391;p43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43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3" name="Google Shape;393;p43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4" name="Google Shape;394;p43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4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44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398" name="Google Shape;398;p4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9" name="Google Shape;399;p44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0" name="Google Shape;400;p44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4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4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45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406" name="Google Shape;406;p4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7" name="Google Shape;407;p45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45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9" name="Google Shape;409;p45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3" name="Google Shape;413;p46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414" name="Google Shape;414;p4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5" name="Google Shape;415;p46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46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7" name="Google Shape;417;p4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8" name="Google Shape;418;p46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47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422" name="Google Shape;422;p4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3" name="Google Shape;423;p47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47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5" name="Google Shape;425;p47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26" name="Google Shape;426;p47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9" name="Google Shape;429;p48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30" name="Google Shape;430;p4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1" name="Google Shape;431;p48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48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3" name="Google Shape;433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4" name="Google Shape;434;p48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48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48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8" name="Google Shape;438;p48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39" name="Google Shape;439;p48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49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443" name="Google Shape;443;p49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49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49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6" name="Google Shape;446;p4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47" name="Google Shape;447;p4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8" name="Google Shape;448;p4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4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" name="Google Shape;450;p49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49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49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55" name="Google Shape;455;p49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56" name="Google Shape;456;p49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50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460" name="Google Shape;460;p5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1" name="Google Shape;461;p50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50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3" name="Google Shape;463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4" name="Google Shape;464;p50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50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50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50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68" name="Google Shape;468;p50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69" name="Google Shape;469;p50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51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473" name="Google Shape;473;p5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4" name="Google Shape;474;p51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51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6" name="Google Shape;476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51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51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1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1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51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82" name="Google Shape;482;p51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83" name="Google Shape;483;p51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84" name="Google Shape;484;p51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52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488" name="Google Shape;488;p5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9" name="Google Shape;489;p52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52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1" name="Google Shape;491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2" name="Google Shape;492;p52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2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52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52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52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52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52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99" name="Google Shape;499;p52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00" name="Google Shape;500;p52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01" name="Google Shape;501;p52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02" name="Google Shape;502;p52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503" name="Google Shape;503;p52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3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53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507" name="Google Shape;507;p53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508" name="Google Shape;508;p53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9" name="Google Shape;509;p53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510" name="Google Shape;510;p53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1" name="Google Shape;511;p53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2" name="Google Shape;512;p53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53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4" name="Google Shape;514;p53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53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6" name="Google Shape;516;p53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9" name="Google Shape;519;p54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520" name="Google Shape;520;p5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21" name="Google Shape;521;p54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54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3" name="Google Shape;523;p54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5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6" name="Google Shape;526;p55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527" name="Google Shape;527;p5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28" name="Google Shape;528;p5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55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0" name="Google Shape;530;p5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6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3" name="Google Shape;533;p56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534" name="Google Shape;534;p56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5" name="Google Shape;535;p56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56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7" name="Google Shape;537;p56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56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56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2" name="Google Shape;542;p57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543" name="Google Shape;543;p5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4" name="Google Shape;544;p57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545" name="Google Shape;545;p57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57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58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550" name="Google Shape;550;p5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1" name="Google Shape;551;p58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58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9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Multi-Modal Breast Cancer Survival Analysis</a:t>
            </a:r>
            <a:endParaRPr sz="3000"/>
          </a:p>
        </p:txBody>
      </p:sp>
      <p:sp>
        <p:nvSpPr>
          <p:cNvPr id="558" name="Google Shape;558;p59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project integrating clinical metadata, microarray gene expression, and somatic mutation data to predict patient survival outcomes</a:t>
            </a:r>
            <a:endParaRPr/>
          </a:p>
        </p:txBody>
      </p:sp>
      <p:sp>
        <p:nvSpPr>
          <p:cNvPr id="559" name="Google Shape;559;p59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Approach</a:t>
            </a:r>
            <a:endParaRPr/>
          </a:p>
        </p:txBody>
      </p:sp>
      <p:sp>
        <p:nvSpPr>
          <p:cNvPr id="565" name="Google Shape;565;p60"/>
          <p:cNvSpPr/>
          <p:nvPr/>
        </p:nvSpPr>
        <p:spPr>
          <a:xfrm>
            <a:off x="720000" y="1157650"/>
            <a:ext cx="3676200" cy="3216600"/>
          </a:xfrm>
          <a:prstGeom prst="rect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Clinical Motivation 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Traditional survival models </a:t>
            </a:r>
            <a:r>
              <a:rPr lang="en" sz="1000" u="sng">
                <a:latin typeface="Hanken Grotesk"/>
                <a:ea typeface="Hanken Grotesk"/>
                <a:cs typeface="Hanken Grotesk"/>
                <a:sym typeface="Hanken Grotesk"/>
              </a:rPr>
              <a:t>(Cox Proportional Hazard)</a:t>
            </a: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 and newer ML models </a:t>
            </a:r>
            <a:r>
              <a:rPr lang="en" sz="1000" u="sng">
                <a:latin typeface="Hanken Grotesk"/>
                <a:ea typeface="Hanken Grotesk"/>
                <a:cs typeface="Hanken Grotesk"/>
                <a:sym typeface="Hanken Grotesk"/>
              </a:rPr>
              <a:t>(DeepSurv)</a:t>
            </a: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 primarily utilize clinical features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Individual Motivation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Improve knowledge on: 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Multi-modal Integration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Building predictive models (PyTorch)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New Disease Context (Breast Cancer)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 u="sng">
                <a:latin typeface="Hanken Grotesk"/>
                <a:ea typeface="Hanken Grotesk"/>
                <a:cs typeface="Hanken Grotesk"/>
                <a:sym typeface="Hanken Grotesk"/>
              </a:rPr>
              <a:t>What if we took an integrated approach, combining: </a:t>
            </a:r>
            <a:endParaRPr b="1" i="1" sz="1000" u="sng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Clinical Metadata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Gene Expression 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Mutation information 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For improved survival prediction? 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66" name="Google Shape;566;p60"/>
          <p:cNvSpPr/>
          <p:nvPr/>
        </p:nvSpPr>
        <p:spPr>
          <a:xfrm>
            <a:off x="4572000" y="1157650"/>
            <a:ext cx="4027800" cy="1487400"/>
          </a:xfrm>
          <a:prstGeom prst="rect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Data: METABRIC 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Hanken Grotesk"/>
                <a:ea typeface="Hanken Grotesk"/>
                <a:cs typeface="Hanken Grotesk"/>
                <a:sym typeface="Hanken Grotesk"/>
              </a:rPr>
              <a:t>Molecular Taxonomy of Breast Cancer International Consortium</a:t>
            </a:r>
            <a:endParaRPr sz="8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1800 Breast Cancer Patients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Clinical Metadata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Microarray Data (Gene Expression, 18,000 genes)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SNP Genotyping (Mutation)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67" name="Google Shape;567;p60"/>
          <p:cNvSpPr/>
          <p:nvPr/>
        </p:nvSpPr>
        <p:spPr>
          <a:xfrm>
            <a:off x="4572000" y="2784975"/>
            <a:ext cx="4027800" cy="1589100"/>
          </a:xfrm>
          <a:prstGeom prst="rect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Approach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AutoNum type="arabicPeriod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Cox Proportional Hazards Model: Clinical Only (Baseline)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AutoNum type="arabicPeriod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Cox PH Model: Clinical &amp; Gene Expression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AutoNum type="arabicPeriod"/>
            </a:pPr>
            <a:r>
              <a:rPr b="1" lang="en" sz="1000">
                <a:latin typeface="Hanken Grotesk"/>
                <a:ea typeface="Hanken Grotesk"/>
                <a:cs typeface="Hanken Grotesk"/>
                <a:sym typeface="Hanken Grotesk"/>
              </a:rPr>
              <a:t>Neural Network Based Model fusing all 3 modalities</a:t>
            </a:r>
            <a:endParaRPr b="1" sz="1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>
            <p:ph idx="1" type="body"/>
          </p:nvPr>
        </p:nvSpPr>
        <p:spPr>
          <a:xfrm>
            <a:off x="720000" y="1215750"/>
            <a:ext cx="41232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The</a:t>
            </a:r>
            <a:r>
              <a:rPr b="1" lang="en" sz="1300"/>
              <a:t> hazard function </a:t>
            </a:r>
            <a:r>
              <a:rPr b="1" i="1" lang="en" sz="1300"/>
              <a:t>h(t) </a:t>
            </a:r>
            <a:r>
              <a:rPr b="1" lang="en" sz="1300"/>
              <a:t>gives the instantaneous rate of an event (cancer death) occuring at time t, given survival up until that point. 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Cox PH models how </a:t>
            </a:r>
            <a:r>
              <a:rPr lang="en" sz="1300"/>
              <a:t>patient</a:t>
            </a:r>
            <a:r>
              <a:rPr lang="en" sz="1300"/>
              <a:t> features (</a:t>
            </a:r>
            <a:r>
              <a:rPr i="1" lang="en" sz="1300"/>
              <a:t>x</a:t>
            </a:r>
            <a:r>
              <a:rPr baseline="-25000" i="1" lang="en" sz="1300"/>
              <a:t>i</a:t>
            </a:r>
            <a:r>
              <a:rPr lang="en" sz="1300"/>
              <a:t>) shift that rate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Model assumes each feature multiplies the baseline hazard by a constant factor at all time points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Patients</a:t>
            </a:r>
            <a:r>
              <a:rPr lang="en" sz="1300"/>
              <a:t> who don’t experience the event before the study ends are </a:t>
            </a:r>
            <a:r>
              <a:rPr lang="en" sz="1300"/>
              <a:t>censored: meaning their data still contributes to the likelihood, informing model on survival up until that point</a:t>
            </a:r>
            <a:endParaRPr sz="1300"/>
          </a:p>
        </p:txBody>
      </p:sp>
      <p:sp>
        <p:nvSpPr>
          <p:cNvPr id="573" name="Google Shape;573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Cox Proportional Hazards Model</a:t>
            </a:r>
            <a:endParaRPr sz="2400"/>
          </a:p>
        </p:txBody>
      </p:sp>
      <p:pic>
        <p:nvPicPr>
          <p:cNvPr id="574" name="Google Shape;5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025" y="1215750"/>
            <a:ext cx="3859825" cy="12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1"/>
          <p:cNvSpPr txBox="1"/>
          <p:nvPr/>
        </p:nvSpPr>
        <p:spPr>
          <a:xfrm>
            <a:off x="5216775" y="2432550"/>
            <a:ext cx="34656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h(t): Hazard function. Instantaneous risk of death at time t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</a:t>
            </a:r>
            <a:r>
              <a:rPr baseline="-25000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(t): Baseline hazard. Underlying hazard when all variables are zero 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x</a:t>
            </a:r>
            <a:r>
              <a:rPr baseline="-25000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Covariate values. Measured clinical variables for a given 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</a:t>
            </a:r>
            <a:r>
              <a:rPr baseline="-25000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Regression coefficients. Weights learned from the data for each covariate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Cox Proportional Hazards - Clinical Baseline</a:t>
            </a:r>
            <a:endParaRPr/>
          </a:p>
        </p:txBody>
      </p:sp>
      <p:sp>
        <p:nvSpPr>
          <p:cNvPr id="581" name="Google Shape;581;p62"/>
          <p:cNvSpPr/>
          <p:nvPr/>
        </p:nvSpPr>
        <p:spPr>
          <a:xfrm>
            <a:off x="4403400" y="1017725"/>
            <a:ext cx="4198500" cy="916500"/>
          </a:xfrm>
          <a:prstGeom prst="rect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Modeling Setup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Input: 11 clinical features (ex: HER2, PR status, tumor size, age)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Data stratified by chemotherapy and radiotherapy (these reflect disease severity, not causal risk) 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82" name="Google Shape;582;p62"/>
          <p:cNvSpPr/>
          <p:nvPr/>
        </p:nvSpPr>
        <p:spPr>
          <a:xfrm>
            <a:off x="4403400" y="3157900"/>
            <a:ext cx="4198500" cy="1523700"/>
          </a:xfrm>
          <a:prstGeom prst="rect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Biological Interpretation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Hazard Ratio: Multiplier on risk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HER2+ positive patients have HR = 1.54, meaning at any point in time they are 1.54x more likely to die than HER2- patients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HER2 overexpression is established driver of tumor growth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Histological grade directly reflects how fast-dividing tumor is 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83" name="Google Shape;583;p62"/>
          <p:cNvSpPr/>
          <p:nvPr/>
        </p:nvSpPr>
        <p:spPr>
          <a:xfrm>
            <a:off x="4403400" y="2057363"/>
            <a:ext cx="4198500" cy="977400"/>
          </a:xfrm>
          <a:prstGeom prst="rect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Performance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Concordance Index: model’s ability to correctly rank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patients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by risk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Ranges from 0.5 (random) to 1.0 (perfect) 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Our clinical-only model: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C-index = 0.536 (barely better than random)</a:t>
            </a:r>
            <a:endParaRPr b="1" sz="10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584" name="Google Shape;584;p62" title="12f0fa0e-7df4-43e3-9879-40aa729b9cd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25" y="1017725"/>
            <a:ext cx="3683875" cy="200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2" title="baa5e0eb-0c79-4a47-b141-634aa0109bb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25" y="3077300"/>
            <a:ext cx="3683875" cy="16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3"/>
          <p:cNvSpPr txBox="1"/>
          <p:nvPr>
            <p:ph type="title"/>
          </p:nvPr>
        </p:nvSpPr>
        <p:spPr>
          <a:xfrm>
            <a:off x="720000" y="445025"/>
            <a:ext cx="78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Performance and Biological Relevance Improve with Gene Expression Addition</a:t>
            </a:r>
            <a:endParaRPr sz="1600"/>
          </a:p>
        </p:txBody>
      </p:sp>
      <p:sp>
        <p:nvSpPr>
          <p:cNvPr id="591" name="Google Shape;591;p63"/>
          <p:cNvSpPr/>
          <p:nvPr/>
        </p:nvSpPr>
        <p:spPr>
          <a:xfrm>
            <a:off x="4403400" y="1017725"/>
            <a:ext cx="4198500" cy="123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Cox Modeling with Clinical Metadata + Gene Expression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AutoNum type="arabicPeriod"/>
            </a:pPr>
            <a:r>
              <a:rPr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Create Cox Model with ALL 18,000 genes and no clinical data</a:t>
            </a:r>
            <a:endParaRPr sz="9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AutoNum type="alphaLcPeriod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Regularize/reduce feature space with Elastic Net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AutoNum type="alphaLcPeriod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Select genes with HR&gt;1.05 or HR&lt;0.95 (top predictive genes)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AutoNum type="arabicPeriod"/>
            </a:pP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Cox Model with </a:t>
            </a: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clinical</a:t>
            </a: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data (11) and selected genes (13)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2" name="Google Shape;592;p63"/>
          <p:cNvSpPr/>
          <p:nvPr/>
        </p:nvSpPr>
        <p:spPr>
          <a:xfrm>
            <a:off x="4403400" y="2893975"/>
            <a:ext cx="4198500" cy="1787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Biological Interpretation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HER2 status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and </a:t>
            </a: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Histological Grade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still both top predictors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PDPK1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Part of PI3K/AKT signaling pathway, driver of cell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proliferation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MYC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well-known oncogene, also drives cell proliferation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TSC1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Only significant protective factor. TSC1 is a tumor suppressor inhibiting the mTOR pathway, slowing tumor growth 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3" name="Google Shape;593;p63"/>
          <p:cNvSpPr/>
          <p:nvPr/>
        </p:nvSpPr>
        <p:spPr>
          <a:xfrm>
            <a:off x="4403400" y="2319000"/>
            <a:ext cx="4198500" cy="5055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Performance Improves Considerably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C-index = 0.70 (previously 0.53)</a:t>
            </a:r>
            <a:endParaRPr b="1" sz="10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594" name="Google Shape;594;p63" title="2276d336-9542-4ed4-aae3-549a8957b08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25" y="3076818"/>
            <a:ext cx="3664551" cy="1628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3" title="460ae64a-dffd-4ee8-976f-063a71188f3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625" y="1010398"/>
            <a:ext cx="3664539" cy="19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4"/>
          <p:cNvSpPr txBox="1"/>
          <p:nvPr>
            <p:ph type="title"/>
          </p:nvPr>
        </p:nvSpPr>
        <p:spPr>
          <a:xfrm>
            <a:off x="720000" y="445025"/>
            <a:ext cx="78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Kaplan-Meier Curves for Patients split by Risk Group</a:t>
            </a:r>
            <a:endParaRPr sz="1600"/>
          </a:p>
        </p:txBody>
      </p:sp>
      <p:pic>
        <p:nvPicPr>
          <p:cNvPr id="601" name="Google Shape;60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88" y="855225"/>
            <a:ext cx="3579675" cy="25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64"/>
          <p:cNvSpPr/>
          <p:nvPr/>
        </p:nvSpPr>
        <p:spPr>
          <a:xfrm>
            <a:off x="566288" y="3397300"/>
            <a:ext cx="3899700" cy="123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 Survival Split into 5 Groups by Risk Score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Patients split into 5 equal groups, from lowest to highest risk score calculated by model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accurately separates risk groups for 250+ months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03" name="Google Shape;603;p64"/>
          <p:cNvSpPr/>
          <p:nvPr/>
        </p:nvSpPr>
        <p:spPr>
          <a:xfrm>
            <a:off x="4849650" y="3397300"/>
            <a:ext cx="3752400" cy="123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Lowest / Highest Risk Patients Survival Probability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Char char="●"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Survival function predicted from Cox Hazard Model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Char char="●"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predicts highest risk patient has &lt; 10% chance of survival after 150 months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Char char="●"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predicts lowest risk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has 60% chance of survival after 300 months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04" name="Google Shape;60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088" y="855225"/>
            <a:ext cx="3411525" cy="24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PyTorch Deep Neural Model Original Strategy</a:t>
            </a:r>
            <a:endParaRPr sz="2400"/>
          </a:p>
        </p:txBody>
      </p:sp>
      <p:sp>
        <p:nvSpPr>
          <p:cNvPr id="610" name="Google Shape;610;p65"/>
          <p:cNvSpPr/>
          <p:nvPr/>
        </p:nvSpPr>
        <p:spPr>
          <a:xfrm>
            <a:off x="720000" y="1017725"/>
            <a:ext cx="7704000" cy="1417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Original Training Strategy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Train clinical-only PyTorch model, optimizing width and depth of layers, and freeze weights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 and train Z-scored microarray expression encoder, optimize, and freeze weights 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 and train binary mutation encoder  and optimize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Fine-tune all layers for fine model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720000" y="2691825"/>
            <a:ext cx="7704000" cy="16905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Evaluation Strategies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Evaluate C-index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Evaluate time-dependent AUC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Evaluate Integrated Brier Score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Plot Kaplan-Meier Curves of risk groups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Compare to clinical + gene expression CoxPH model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Original </a:t>
            </a:r>
            <a:r>
              <a:rPr lang="en" sz="2200"/>
              <a:t>Multi-Modal Neural Network Architecture</a:t>
            </a:r>
            <a:endParaRPr sz="2200"/>
          </a:p>
        </p:txBody>
      </p:sp>
      <p:sp>
        <p:nvSpPr>
          <p:cNvPr id="617" name="Google Shape;617;p66"/>
          <p:cNvSpPr/>
          <p:nvPr/>
        </p:nvSpPr>
        <p:spPr>
          <a:xfrm>
            <a:off x="720000" y="1260275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Hanken Grotesk"/>
                <a:ea typeface="Hanken Grotesk"/>
                <a:cs typeface="Hanken Grotesk"/>
                <a:sym typeface="Hanken Grotesk"/>
              </a:rPr>
              <a:t>Clinical Metadata</a:t>
            </a:r>
            <a:endParaRPr b="1" sz="12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(~10 features)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66"/>
          <p:cNvSpPr/>
          <p:nvPr/>
        </p:nvSpPr>
        <p:spPr>
          <a:xfrm>
            <a:off x="720000" y="2385675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Gene Expression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anken Grotesk"/>
                <a:ea typeface="Hanken Grotesk"/>
                <a:cs typeface="Hanken Grotesk"/>
                <a:sym typeface="Hanken Grotesk"/>
              </a:rPr>
              <a:t>(~18k genes)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66"/>
          <p:cNvSpPr/>
          <p:nvPr/>
        </p:nvSpPr>
        <p:spPr>
          <a:xfrm>
            <a:off x="720000" y="351110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Mutation Matrix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(Binary, ~200 SNPs)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66"/>
          <p:cNvSpPr/>
          <p:nvPr/>
        </p:nvSpPr>
        <p:spPr>
          <a:xfrm>
            <a:off x="2689475" y="126025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Clinical Encoder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8-dim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1" name="Google Shape;621;p66"/>
          <p:cNvSpPr/>
          <p:nvPr/>
        </p:nvSpPr>
        <p:spPr>
          <a:xfrm>
            <a:off x="2689475" y="238565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Hanken Grotesk"/>
                <a:ea typeface="Hanken Grotesk"/>
                <a:cs typeface="Hanken Grotesk"/>
                <a:sym typeface="Hanken Grotesk"/>
              </a:rPr>
              <a:t>Expression Encoder</a:t>
            </a:r>
            <a:endParaRPr b="1" sz="1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64-dim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2" name="Google Shape;622;p66"/>
          <p:cNvSpPr/>
          <p:nvPr/>
        </p:nvSpPr>
        <p:spPr>
          <a:xfrm>
            <a:off x="2689475" y="3511075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Mutation Encoder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32-dim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3" name="Google Shape;623;p66"/>
          <p:cNvSpPr/>
          <p:nvPr/>
        </p:nvSpPr>
        <p:spPr>
          <a:xfrm>
            <a:off x="4772525" y="238565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Concat Fusion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(8+64+32)-&gt;64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4" name="Google Shape;624;p66"/>
          <p:cNvSpPr/>
          <p:nvPr/>
        </p:nvSpPr>
        <p:spPr>
          <a:xfrm>
            <a:off x="6855575" y="2385675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anken Grotesk"/>
                <a:ea typeface="Hanken Grotesk"/>
                <a:cs typeface="Hanken Grotesk"/>
                <a:sym typeface="Hanken Grotesk"/>
              </a:rPr>
              <a:t>Risk Output</a:t>
            </a:r>
            <a:endParaRPr b="1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(64-&gt;1)</a:t>
            </a:r>
            <a:endParaRPr sz="1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625" name="Google Shape;625;p66"/>
          <p:cNvCxnSpPr/>
          <p:nvPr/>
        </p:nvCxnSpPr>
        <p:spPr>
          <a:xfrm flipH="1" rot="10800000">
            <a:off x="2381125" y="1699900"/>
            <a:ext cx="454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66"/>
          <p:cNvCxnSpPr/>
          <p:nvPr/>
        </p:nvCxnSpPr>
        <p:spPr>
          <a:xfrm flipH="1" rot="10800000">
            <a:off x="2381125" y="2819775"/>
            <a:ext cx="454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66"/>
          <p:cNvCxnSpPr/>
          <p:nvPr/>
        </p:nvCxnSpPr>
        <p:spPr>
          <a:xfrm flipH="1" rot="10800000">
            <a:off x="2381125" y="3939650"/>
            <a:ext cx="454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66"/>
          <p:cNvCxnSpPr/>
          <p:nvPr/>
        </p:nvCxnSpPr>
        <p:spPr>
          <a:xfrm flipH="1" rot="10800000">
            <a:off x="4352075" y="2820363"/>
            <a:ext cx="5643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66"/>
          <p:cNvCxnSpPr/>
          <p:nvPr/>
        </p:nvCxnSpPr>
        <p:spPr>
          <a:xfrm flipH="1" rot="10800000">
            <a:off x="6446125" y="2820338"/>
            <a:ext cx="5643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66"/>
          <p:cNvCxnSpPr/>
          <p:nvPr/>
        </p:nvCxnSpPr>
        <p:spPr>
          <a:xfrm>
            <a:off x="4289850" y="2029988"/>
            <a:ext cx="567900" cy="45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66"/>
          <p:cNvCxnSpPr/>
          <p:nvPr/>
        </p:nvCxnSpPr>
        <p:spPr>
          <a:xfrm flipH="1" rot="10800000">
            <a:off x="4289850" y="3157963"/>
            <a:ext cx="582600" cy="51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66"/>
          <p:cNvSpPr txBox="1"/>
          <p:nvPr/>
        </p:nvSpPr>
        <p:spPr>
          <a:xfrm>
            <a:off x="5177525" y="3508500"/>
            <a:ext cx="30990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Originally, the plan was to have 3 separate encoders for each modality, followed by a fusion encoder combining the modalities, and a risk output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7"/>
          <p:cNvSpPr/>
          <p:nvPr/>
        </p:nvSpPr>
        <p:spPr>
          <a:xfrm>
            <a:off x="2550500" y="1945300"/>
            <a:ext cx="2021700" cy="2238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638" name="Google Shape;638;p67"/>
          <p:cNvGrpSpPr/>
          <p:nvPr/>
        </p:nvGrpSpPr>
        <p:grpSpPr>
          <a:xfrm>
            <a:off x="2679500" y="2315025"/>
            <a:ext cx="1763700" cy="1802750"/>
            <a:chOff x="2689475" y="2541600"/>
            <a:chExt cx="1763700" cy="1802750"/>
          </a:xfrm>
        </p:grpSpPr>
        <p:sp>
          <p:nvSpPr>
            <p:cNvPr id="639" name="Google Shape;639;p67"/>
            <p:cNvSpPr/>
            <p:nvPr/>
          </p:nvSpPr>
          <p:spPr>
            <a:xfrm>
              <a:off x="2689475" y="2541600"/>
              <a:ext cx="1763700" cy="871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Hanken Grotesk"/>
                  <a:ea typeface="Hanken Grotesk"/>
                  <a:cs typeface="Hanken Grotesk"/>
                  <a:sym typeface="Hanken Grotesk"/>
                </a:rPr>
                <a:t>Expression Encoder</a:t>
              </a:r>
              <a:endParaRPr b="1" sz="1100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u="sng">
                  <a:latin typeface="Hanken Grotesk"/>
                  <a:ea typeface="Hanken Grotesk"/>
                  <a:cs typeface="Hanken Grotesk"/>
                  <a:sym typeface="Hanken Grotesk"/>
                </a:rPr>
                <a:t>489-&gt;256-&gt;128-&gt; 32 Latent Dimensions</a:t>
              </a:r>
              <a:endParaRPr sz="1000" u="sng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ReLu &amp; 30% Dropout between layers</a:t>
              </a:r>
              <a:endParaRPr i="1"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40" name="Google Shape;640;p67"/>
            <p:cNvSpPr/>
            <p:nvPr/>
          </p:nvSpPr>
          <p:spPr>
            <a:xfrm>
              <a:off x="2689475" y="3472550"/>
              <a:ext cx="1763700" cy="871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Hanken Grotesk"/>
                  <a:ea typeface="Hanken Grotesk"/>
                  <a:cs typeface="Hanken Grotesk"/>
                  <a:sym typeface="Hanken Grotesk"/>
                </a:rPr>
                <a:t>Expression Decoder</a:t>
              </a:r>
              <a:endParaRPr b="1" sz="1100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32 Latent Dims -&gt; 128 -&gt; 256 -&gt; 489</a:t>
              </a: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ReLu between layers</a:t>
              </a: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cxnSp>
          <p:nvCxnSpPr>
            <p:cNvPr id="641" name="Google Shape;641;p67"/>
            <p:cNvCxnSpPr/>
            <p:nvPr/>
          </p:nvCxnSpPr>
          <p:spPr>
            <a:xfrm>
              <a:off x="3550975" y="3304975"/>
              <a:ext cx="79800" cy="276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42" name="Google Shape;642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Final Multi-Modal Neural Network Structure</a:t>
            </a:r>
            <a:endParaRPr sz="2200"/>
          </a:p>
        </p:txBody>
      </p:sp>
      <p:sp>
        <p:nvSpPr>
          <p:cNvPr id="643" name="Google Shape;643;p67"/>
          <p:cNvSpPr/>
          <p:nvPr/>
        </p:nvSpPr>
        <p:spPr>
          <a:xfrm>
            <a:off x="555750" y="951875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Hanken Grotesk"/>
                <a:ea typeface="Hanken Grotesk"/>
                <a:cs typeface="Hanken Grotesk"/>
                <a:sym typeface="Hanken Grotesk"/>
              </a:rPr>
              <a:t>Clinical + Mutation Metadata</a:t>
            </a:r>
            <a:endParaRPr b="1" sz="12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29 Clinical Feats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26 Mutation Feats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(55 Total Features)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4" name="Google Shape;644;p67"/>
          <p:cNvSpPr/>
          <p:nvPr/>
        </p:nvSpPr>
        <p:spPr>
          <a:xfrm>
            <a:off x="555775" y="189985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Hanken Grotesk"/>
                <a:ea typeface="Hanken Grotesk"/>
                <a:cs typeface="Hanken Grotesk"/>
                <a:sym typeface="Hanken Grotesk"/>
              </a:rPr>
              <a:t>Gene Expression</a:t>
            </a:r>
            <a:endParaRPr b="1" sz="12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(489 genes)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5" name="Google Shape;645;p67"/>
          <p:cNvSpPr/>
          <p:nvPr/>
        </p:nvSpPr>
        <p:spPr>
          <a:xfrm>
            <a:off x="2689475" y="981650"/>
            <a:ext cx="1763700" cy="87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Hanken Grotesk"/>
                <a:ea typeface="Hanken Grotesk"/>
                <a:cs typeface="Hanken Grotesk"/>
                <a:sym typeface="Hanken Grotesk"/>
              </a:rPr>
              <a:t>Clinical + Mutation Encoder</a:t>
            </a:r>
            <a:endParaRPr b="1" sz="12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Hanken Grotesk"/>
                <a:ea typeface="Hanken Grotesk"/>
                <a:cs typeface="Hanken Grotesk"/>
                <a:sym typeface="Hanken Grotesk"/>
              </a:rPr>
              <a:t>Layer dims:  55-&gt;32-&gt;16</a:t>
            </a:r>
            <a:endParaRPr sz="1000" u="sng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Hanken Grotesk"/>
                <a:ea typeface="Hanken Grotesk"/>
                <a:cs typeface="Hanken Grotesk"/>
                <a:sym typeface="Hanken Grotesk"/>
              </a:rPr>
              <a:t>ReLu &amp; 30% Dropout between layers</a:t>
            </a:r>
            <a:endParaRPr i="1" sz="1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646" name="Google Shape;646;p67"/>
          <p:cNvCxnSpPr/>
          <p:nvPr/>
        </p:nvCxnSpPr>
        <p:spPr>
          <a:xfrm flipH="1" rot="10800000">
            <a:off x="2381125" y="1699900"/>
            <a:ext cx="454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67"/>
          <p:cNvCxnSpPr>
            <a:stCxn id="644" idx="3"/>
          </p:cNvCxnSpPr>
          <p:nvPr/>
        </p:nvCxnSpPr>
        <p:spPr>
          <a:xfrm>
            <a:off x="2319475" y="2335750"/>
            <a:ext cx="516300" cy="6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8" name="Google Shape;648;p67"/>
          <p:cNvGrpSpPr/>
          <p:nvPr/>
        </p:nvGrpSpPr>
        <p:grpSpPr>
          <a:xfrm>
            <a:off x="4828288" y="987188"/>
            <a:ext cx="3832013" cy="871800"/>
            <a:chOff x="4757763" y="1586813"/>
            <a:chExt cx="3832013" cy="871800"/>
          </a:xfrm>
        </p:grpSpPr>
        <p:sp>
          <p:nvSpPr>
            <p:cNvPr id="649" name="Google Shape;649;p67"/>
            <p:cNvSpPr/>
            <p:nvPr/>
          </p:nvSpPr>
          <p:spPr>
            <a:xfrm>
              <a:off x="4757763" y="1586813"/>
              <a:ext cx="1763700" cy="871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Hanken Grotesk"/>
                  <a:ea typeface="Hanken Grotesk"/>
                  <a:cs typeface="Hanken Grotesk"/>
                  <a:sym typeface="Hanken Grotesk"/>
                </a:rPr>
                <a:t>Concat Fusion</a:t>
              </a:r>
              <a:endParaRPr b="1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(16+32)-&gt;32</a:t>
              </a: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ReLu &amp; 30% Dropout between layers</a:t>
              </a: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50" name="Google Shape;650;p67"/>
            <p:cNvSpPr/>
            <p:nvPr/>
          </p:nvSpPr>
          <p:spPr>
            <a:xfrm>
              <a:off x="6826075" y="1586813"/>
              <a:ext cx="1763700" cy="8718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Hanken Grotesk"/>
                  <a:ea typeface="Hanken Grotesk"/>
                  <a:cs typeface="Hanken Grotesk"/>
                  <a:sym typeface="Hanken Grotesk"/>
                </a:rPr>
                <a:t>Risk Output</a:t>
              </a:r>
              <a:endParaRPr b="1"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Hanken Grotesk"/>
                  <a:ea typeface="Hanken Grotesk"/>
                  <a:cs typeface="Hanken Grotesk"/>
                  <a:sym typeface="Hanken Grotesk"/>
                </a:rPr>
                <a:t>(32-&gt;1)</a:t>
              </a:r>
              <a:endParaRPr sz="1000"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cxnSp>
          <p:nvCxnSpPr>
            <p:cNvPr id="651" name="Google Shape;651;p67"/>
            <p:cNvCxnSpPr/>
            <p:nvPr/>
          </p:nvCxnSpPr>
          <p:spPr>
            <a:xfrm flipH="1" rot="10800000">
              <a:off x="6406650" y="2021525"/>
              <a:ext cx="564300" cy="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652" name="Google Shape;652;p67"/>
          <p:cNvCxnSpPr/>
          <p:nvPr/>
        </p:nvCxnSpPr>
        <p:spPr>
          <a:xfrm flipH="1" rot="10800000">
            <a:off x="4297200" y="1499213"/>
            <a:ext cx="551700" cy="8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67"/>
          <p:cNvCxnSpPr>
            <a:stCxn id="637" idx="3"/>
          </p:cNvCxnSpPr>
          <p:nvPr/>
        </p:nvCxnSpPr>
        <p:spPr>
          <a:xfrm flipH="1" rot="10800000">
            <a:off x="4572200" y="1606900"/>
            <a:ext cx="346500" cy="145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4" name="Google Shape;654;p67"/>
          <p:cNvSpPr txBox="1"/>
          <p:nvPr/>
        </p:nvSpPr>
        <p:spPr>
          <a:xfrm>
            <a:off x="2549313" y="1823663"/>
            <a:ext cx="192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Survival-Aware Autoencoder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5" name="Google Shape;655;p67"/>
          <p:cNvSpPr txBox="1"/>
          <p:nvPr/>
        </p:nvSpPr>
        <p:spPr>
          <a:xfrm>
            <a:off x="4898700" y="2653325"/>
            <a:ext cx="36912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6" name="Google Shape;656;p67"/>
          <p:cNvSpPr txBox="1"/>
          <p:nvPr/>
        </p:nvSpPr>
        <p:spPr>
          <a:xfrm>
            <a:off x="4702475" y="1961725"/>
            <a:ext cx="4139400" cy="23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Final Model has two separate neural </a:t>
            </a:r>
            <a:r>
              <a:rPr b="1" lang="en" sz="11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networks, with concat fusion combining them at the end: </a:t>
            </a:r>
            <a:endParaRPr b="1" sz="11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b="1"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Survival-Aware Expression Autoencoder</a:t>
            </a:r>
            <a:endParaRPr b="1"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lphaLcPeriod"/>
            </a:pPr>
            <a:r>
              <a:rPr lang="en" sz="11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Encoder</a:t>
            </a: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compresses 489-gene microarray data into 32 latent dimensions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lphaLcPeriod"/>
            </a:pPr>
            <a:r>
              <a:rPr lang="en" sz="11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Decoder</a:t>
            </a: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reconstructs original gene data, with loss functions for both reconstruction accuracy AND survival-aware cox partial likelihood loss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b="1"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Clinical + Mutation Metadata Encoder</a:t>
            </a:r>
            <a:endParaRPr b="1"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lphaL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Separate mutation encoder resulted in all metrics worse (C-index, IBS, AUC) in testing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lphaLcPeriod"/>
            </a:pP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29 Clinical features, 25 most frequent mutations, and per-patient Tumor Mutational Burden (55 features) as input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AutoNum type="arabicPeriod"/>
            </a:pPr>
            <a:r>
              <a:rPr b="1"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Concat Encoder </a:t>
            </a:r>
            <a:r>
              <a:rPr lang="en" sz="1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takes 16 clinical feature vector and 32 dim expression vector and outputs 1 risk score</a:t>
            </a:r>
            <a:endParaRPr sz="11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7" name="Google Shape;657;p67"/>
          <p:cNvSpPr txBox="1"/>
          <p:nvPr/>
        </p:nvSpPr>
        <p:spPr>
          <a:xfrm>
            <a:off x="328025" y="2847825"/>
            <a:ext cx="2221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ReLu: Rectified Linear Unit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For input x, f(x) = max(x,0)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Adds non-linearity to network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30% Dropout: </a:t>
            </a:r>
            <a:endParaRPr b="1"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Regularization, randomly deactivating 30% of nodes within a layer.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Prevents overfitting/ reliance on specific nodes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Model</a:t>
            </a:r>
            <a:r>
              <a:rPr lang="en" sz="2000"/>
              <a:t> Performance Results: Concordance Index shows solid model in first 100 months, but overfitting at later </a:t>
            </a:r>
            <a:r>
              <a:rPr lang="en" sz="2000"/>
              <a:t>time points</a:t>
            </a:r>
            <a:endParaRPr sz="2000"/>
          </a:p>
        </p:txBody>
      </p:sp>
      <p:pic>
        <p:nvPicPr>
          <p:cNvPr id="663" name="Google Shape;66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75" y="1218575"/>
            <a:ext cx="2816899" cy="168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526" y="1332195"/>
            <a:ext cx="2688550" cy="16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68"/>
          <p:cNvSpPr txBox="1"/>
          <p:nvPr/>
        </p:nvSpPr>
        <p:spPr>
          <a:xfrm>
            <a:off x="3083325" y="1384700"/>
            <a:ext cx="14019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1.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On training set, C-index remains around 0.70 from 50 to 200 months, before decreasing considerably. 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is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expected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behavior, C-index decreases over time due to reduced patients, censoring, and “risk clustering” (many patients with similar risk profile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6" name="Google Shape;666;p68"/>
          <p:cNvSpPr txBox="1"/>
          <p:nvPr/>
        </p:nvSpPr>
        <p:spPr>
          <a:xfrm>
            <a:off x="7328075" y="1384700"/>
            <a:ext cx="14019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2. The validation set was used for evaluating which weights performed best during model training. 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Due to this, we see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significant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overfitting. It would be best to retrain the model using cross-validation instead. 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67" name="Google Shape;667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975" y="3099875"/>
            <a:ext cx="2816892" cy="16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8"/>
          <p:cNvSpPr txBox="1"/>
          <p:nvPr/>
        </p:nvSpPr>
        <p:spPr>
          <a:xfrm>
            <a:off x="3170100" y="3099875"/>
            <a:ext cx="14019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3.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On test set, C-index remains at or above 0.60 until ~100 months, at which point it falls close to 0. 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 140 months onwards, the test C-index spikes above 0.70, then down to below 0.50 (worse than guessing). This is likely due to overfitting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9" name="Google Shape;669;p68"/>
          <p:cNvSpPr txBox="1"/>
          <p:nvPr/>
        </p:nvSpPr>
        <p:spPr>
          <a:xfrm>
            <a:off x="4572000" y="2979125"/>
            <a:ext cx="41580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C-Index Results Takeaway: 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For 0-100 months, the model provides robust predictions of risk based on C-index 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From 100-150 months, 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training, validation, and test performance begin to diverge, and predictions should be taken with caution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Beyond 150 months, the model should not be used due to overfitting. 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</a:pP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NEXT: Retrain model without overfitting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9"/>
          <p:cNvSpPr txBox="1"/>
          <p:nvPr>
            <p:ph type="title"/>
          </p:nvPr>
        </p:nvSpPr>
        <p:spPr>
          <a:xfrm>
            <a:off x="720000" y="445025"/>
            <a:ext cx="78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Kaplan-Meier Curves for Patients split by Risk Group</a:t>
            </a:r>
            <a:endParaRPr sz="1600"/>
          </a:p>
        </p:txBody>
      </p:sp>
      <p:sp>
        <p:nvSpPr>
          <p:cNvPr id="675" name="Google Shape;675;p69"/>
          <p:cNvSpPr/>
          <p:nvPr/>
        </p:nvSpPr>
        <p:spPr>
          <a:xfrm>
            <a:off x="566288" y="3397300"/>
            <a:ext cx="3899700" cy="123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 Survival Split into 5 Groups by Risk (Full Data)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Patients split into 5 equal groups, from lowest to highest risk score calculated by model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separates risk groups for 250+ months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6" name="Google Shape;676;p69"/>
          <p:cNvSpPr/>
          <p:nvPr/>
        </p:nvSpPr>
        <p:spPr>
          <a:xfrm>
            <a:off x="4849650" y="3397300"/>
            <a:ext cx="3899700" cy="123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Lowest / Highest Risk Patients Survival Probability</a:t>
            </a:r>
            <a:endParaRPr b="1"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Char char="●"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Breslow estimator used to determine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cumulative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hazard over time 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Char char="●"/>
            </a:pP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predicts highest risk patient to have 20% chance of survival after just 50 months, while 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lowest</a:t>
            </a:r>
            <a:r>
              <a:rPr lang="en" sz="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risk patient has 80% chance of survival after 300 months</a:t>
            </a:r>
            <a:endParaRPr sz="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77" name="Google Shape;67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00" y="921375"/>
            <a:ext cx="3899701" cy="232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7402" y="921375"/>
            <a:ext cx="3111076" cy="23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Kaplan-Meier Curves by Risk in Test Set</a:t>
            </a:r>
            <a:endParaRPr/>
          </a:p>
        </p:txBody>
      </p:sp>
      <p:pic>
        <p:nvPicPr>
          <p:cNvPr id="684" name="Google Shape;68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00" y="1017725"/>
            <a:ext cx="3588651" cy="21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70"/>
          <p:cNvSpPr txBox="1"/>
          <p:nvPr/>
        </p:nvSpPr>
        <p:spPr>
          <a:xfrm>
            <a:off x="326450" y="3338225"/>
            <a:ext cx="39525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 test set, significant separation between risk groups before 200 months.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Event rate in each risk group </a:t>
            </a: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increases monotonically: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Lowest risk: 6.6%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Low risk: 17.6%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Moderate risk: 28.2%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 risk: 43.8%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Highest risk: 67.2%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Good stratification of risk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86" name="Google Shape;686;p70"/>
          <p:cNvPicPr preferRelativeResize="0"/>
          <p:nvPr/>
        </p:nvPicPr>
        <p:blipFill rotWithShape="1">
          <a:blip r:embed="rId4">
            <a:alphaModFix/>
          </a:blip>
          <a:srcRect b="0" l="0" r="33213" t="0"/>
          <a:stretch/>
        </p:blipFill>
        <p:spPr>
          <a:xfrm>
            <a:off x="4237075" y="1017725"/>
            <a:ext cx="3952498" cy="155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0"/>
          <p:cNvPicPr preferRelativeResize="0"/>
          <p:nvPr/>
        </p:nvPicPr>
        <p:blipFill rotWithShape="1">
          <a:blip r:embed="rId4">
            <a:alphaModFix/>
          </a:blip>
          <a:srcRect b="0" l="67065" r="0" t="0"/>
          <a:stretch/>
        </p:blipFill>
        <p:spPr>
          <a:xfrm>
            <a:off x="4237075" y="2605300"/>
            <a:ext cx="1891626" cy="15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0"/>
          <p:cNvSpPr txBox="1"/>
          <p:nvPr/>
        </p:nvSpPr>
        <p:spPr>
          <a:xfrm>
            <a:off x="6229250" y="2663263"/>
            <a:ext cx="25155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By Mann-Whitney U test, risk score distribution is significant </a:t>
            </a: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different</a:t>
            </a:r>
            <a:r>
              <a:rPr lang="en"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between Censored and Event 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 Analysis of Clinical/Mutation Features</a:t>
            </a:r>
            <a:endParaRPr/>
          </a:p>
        </p:txBody>
      </p:sp>
      <p:pic>
        <p:nvPicPr>
          <p:cNvPr id="694" name="Google Shape;69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25" y="1017725"/>
            <a:ext cx="2830326" cy="290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6838" y="975600"/>
            <a:ext cx="2830324" cy="193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2825" y="1017725"/>
            <a:ext cx="2194124" cy="14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71"/>
          <p:cNvSpPr txBox="1"/>
          <p:nvPr/>
        </p:nvSpPr>
        <p:spPr>
          <a:xfrm>
            <a:off x="273125" y="3922225"/>
            <a:ext cx="3125400" cy="1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Left Figure: Mean SHAP, Global Feature Importance:</a:t>
            </a:r>
            <a:endParaRPr b="1"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anken Grotesk"/>
              <a:buChar char="●"/>
            </a:pPr>
            <a:r>
              <a:rPr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Top 20 Clinical and Mutation Features by mean SHAP, quantifying the </a:t>
            </a:r>
            <a:r>
              <a:rPr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contribution</a:t>
            </a:r>
            <a:r>
              <a:rPr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of each feature to risk prediction </a:t>
            </a:r>
            <a:endParaRPr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Middle Figure: Feature impact on Predicted Risk</a:t>
            </a:r>
            <a:endParaRPr b="1"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anken Grotesk"/>
              <a:buChar char="●"/>
            </a:pPr>
            <a:r>
              <a:rPr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Each colored dot is an individual value for a feature, and x axis position indicates impact on model output</a:t>
            </a:r>
            <a:endParaRPr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Right Figure: Sum of Mean SHAP for clinical and mutation features</a:t>
            </a:r>
            <a:endParaRPr b="1"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66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Hanken Grotesk"/>
              <a:buChar char="●"/>
            </a:pPr>
            <a:r>
              <a:rPr lang="en" sz="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All together, clinical features were more impactful on risk score compared to mutation information</a:t>
            </a:r>
            <a:endParaRPr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8" name="Google Shape;698;p71"/>
          <p:cNvSpPr txBox="1"/>
          <p:nvPr/>
        </p:nvSpPr>
        <p:spPr>
          <a:xfrm>
            <a:off x="3465675" y="2828425"/>
            <a:ext cx="5245500" cy="19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Biological Interpretation: </a:t>
            </a:r>
            <a:endParaRPr b="1"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Lymph nodes positive for breast cancer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tumor size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both are positively correlated with breast cancer risk, 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is validated by literature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Left-sided tumor laterality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results in higher risk, however literature says this is clinically uninformative. </a:t>
            </a:r>
            <a:r>
              <a:rPr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is a potential bias, will consider removing</a:t>
            </a:r>
            <a:endParaRPr sz="9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Tumor stage unknown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results in lower risk compared to known tumor stage. </a:t>
            </a:r>
            <a:r>
              <a:rPr lang="en" sz="9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This is another potential bias, will consider removing.</a:t>
            </a:r>
            <a:endParaRPr sz="9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Higher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age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results in higher risk score, aligning with literature. 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PAM50+ LumA subtype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is protective, while 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PAM50+ LumB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is higher risk, aligning with clinical biology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TP53 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and</a:t>
            </a: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PIK3CA mutations 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result in higher risk score. These are both cancer driver mutations, correlated with literature. 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anken Grotesk"/>
              <a:buChar char="●"/>
            </a:pPr>
            <a:r>
              <a:rPr b="1"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GATA3 mutation</a:t>
            </a:r>
            <a:r>
              <a:rPr lang="en" sz="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results in lower risk in our model. GATA3 mutations are tumor drivers, but they paradoxically result in better patient survival. Our model has picked up on this</a:t>
            </a:r>
            <a:endParaRPr sz="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 Analysis of Expression Features</a:t>
            </a:r>
            <a:endParaRPr/>
          </a:p>
        </p:txBody>
      </p:sp>
      <p:pic>
        <p:nvPicPr>
          <p:cNvPr id="704" name="Google Shape;70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75" y="948750"/>
            <a:ext cx="320718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72"/>
          <p:cNvSpPr txBox="1"/>
          <p:nvPr/>
        </p:nvSpPr>
        <p:spPr>
          <a:xfrm>
            <a:off x="3391875" y="948550"/>
            <a:ext cx="53124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SMAD6</a:t>
            </a:r>
            <a:r>
              <a:rPr lang="en" sz="900"/>
              <a:t> (inhibitor of TGF-β signaling) - High expression may reflect suppressed anti-proliferative signaling, allowing tumors to evade differentiation and growth arrest mechanisms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APAF1</a:t>
            </a:r>
            <a:r>
              <a:rPr lang="en" sz="900"/>
              <a:t> (apoptosis protease-activating factor) - Reduced or aberrant expression impairs intrinsic apoptotic pathways, enabling cancer cells to survive despite DNA damage and cellular stress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STAT5a</a:t>
            </a:r>
            <a:r>
              <a:rPr lang="en" sz="900"/>
              <a:t> (signal transducer and activator of transcription 5a) - Elevated expression drives proliferation and anti-apoptotic signaling in breast cancer cells; associated with aggressive luminal and HER2+ subtypes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VEGFA</a:t>
            </a:r>
            <a:r>
              <a:rPr lang="en" sz="900"/>
              <a:t> (vascular endothelial growth factor A) - High expression promotes tumor angiogenesis and metastatic potential, key mechanisms of aggressive disease progression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BCL2</a:t>
            </a:r>
            <a:r>
              <a:rPr lang="en" sz="900"/>
              <a:t> (B-cell lymphoma 2) - Enhanced anti-apoptotic function allows survival of malignant clones and chemotherapy resistance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BMF &amp; FN1</a:t>
            </a:r>
            <a:r>
              <a:rPr lang="en" sz="900"/>
              <a:t> - BMF (pro-apoptotic) suppression enables survival advantage; FN1 (fibronectin) promotes epithelial-mesenchymal transition (EMT) and invasive capacity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AURKA</a:t>
            </a:r>
            <a:r>
              <a:rPr lang="en" sz="900"/>
              <a:t> (aurora kinase A) - Overexpression drives chromosome instability and mitotic errors, associated with high-grade, aggressive tumors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CDK2</a:t>
            </a:r>
            <a:r>
              <a:rPr lang="en" sz="900"/>
              <a:t> - Elevated cyclin-dependent kinase activity accelerates cell cycle progression, characteristic of poorly differentiated, rapidly dividing cancers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MMP11 &amp; SRC</a:t>
            </a:r>
            <a:r>
              <a:rPr lang="en" sz="900"/>
              <a:t> - Matrix metalloproteinase and Src kinase upregulation enhance invasion, migration, and metastatic colonization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The combined elevation of proliferation markers (stat5a, cdk2, aurka) alongside apoptosis inhibitors (apaf1, bcl2, serpini1) suggests a "double hit" mechanism: cells that divide rapidly while evading death signals are inherently more lethal</a:t>
            </a:r>
            <a:endParaRPr b="1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